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920240"/>
            <a:ext cx="137160" cy="20116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Miinto Partner Self-Service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C9A227"/>
                </a:solidFill>
                <a:latin typeface="Calibri"/>
              </a:rPr>
              <a:t>Leadership Summit — Q2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From 600 to 6,000 partners. 18 months. One platform.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6035040"/>
            <a:ext cx="18288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1264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C9A227"/>
                </a:solidFill>
                <a:latin typeface="Calibri"/>
              </a:rPr>
              <a:t>MIINTO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Imperative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9260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2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400" b="1">
                <a:solidFill>
                  <a:srgbClr val="C9A227"/>
                </a:solidFill>
                <a:latin typeface="Calibri"/>
              </a:rPr>
              <a:t>▸  </a:t>
            </a:r>
            <a:r>
              <a:rPr sz="2400" b="0">
                <a:solidFill>
                  <a:srgbClr val="1F2A3D"/>
                </a:solidFill>
                <a:latin typeface="Calibri"/>
              </a:rPr>
              <a:t>Today: 600 partners, manual onboarding, 2-4 week wait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400" b="1">
                <a:solidFill>
                  <a:srgbClr val="C9A227"/>
                </a:solidFill>
                <a:latin typeface="Calibri"/>
              </a:rPr>
              <a:t>▸  </a:t>
            </a:r>
            <a:r>
              <a:rPr sz="2400" b="0">
                <a:solidFill>
                  <a:srgbClr val="1F2A3D"/>
                </a:solidFill>
                <a:latin typeface="Calibri"/>
              </a:rPr>
              <a:t>Target: 6,000 partners by December 2027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400" b="1">
                <a:solidFill>
                  <a:srgbClr val="C9A227"/>
                </a:solidFill>
                <a:latin typeface="Calibri"/>
              </a:rPr>
              <a:t>▸  </a:t>
            </a:r>
            <a:r>
              <a:rPr sz="2400" b="0">
                <a:solidFill>
                  <a:srgbClr val="1F2A3D"/>
                </a:solidFill>
                <a:latin typeface="Calibri"/>
              </a:rPr>
              <a:t>We cannot hire 10x more staff — we must go self-service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120640"/>
            <a:ext cx="10698480" cy="10972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5120640"/>
            <a:ext cx="109728" cy="10972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212080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365D"/>
                </a:solidFill>
                <a:latin typeface="Calibri"/>
              </a:rPr>
              <a:t>10x growth in 18 months requires a 10x change in how we operate.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6539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A6785"/>
                </a:solidFill>
                <a:latin typeface="Calibri"/>
              </a:rPr>
              <a:t>MIINTO  |  CONFIDENTIAL  |  Leadership Summit Q2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9260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3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5A6785"/>
                </a:solidFill>
                <a:latin typeface="Calibri"/>
              </a:rPr>
              <a:t>Today's onboarding is slow, manual, and brittle: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200" b="1">
                <a:solidFill>
                  <a:srgbClr val="C9A227"/>
                </a:solidFill>
                <a:latin typeface="Calibri"/>
              </a:rPr>
              <a:t>▸  </a:t>
            </a:r>
            <a:r>
              <a:rPr sz="2200" b="0">
                <a:solidFill>
                  <a:srgbClr val="1F2A3D"/>
                </a:solidFill>
                <a:latin typeface="Calibri"/>
              </a:rPr>
              <a:t>Email back-and-forth to collect documents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200" b="1">
                <a:solidFill>
                  <a:srgbClr val="C9A227"/>
                </a:solidFill>
                <a:latin typeface="Calibri"/>
              </a:rPr>
              <a:t>▸  </a:t>
            </a:r>
            <a:r>
              <a:rPr sz="2200" b="0">
                <a:solidFill>
                  <a:srgbClr val="1F2A3D"/>
                </a:solidFill>
                <a:latin typeface="Calibri"/>
              </a:rPr>
              <a:t>Print, sign, scan contracts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200" b="1">
                <a:solidFill>
                  <a:srgbClr val="C9A227"/>
                </a:solidFill>
                <a:latin typeface="Calibri"/>
              </a:rPr>
              <a:t>▸  </a:t>
            </a:r>
            <a:r>
              <a:rPr sz="2200" b="0">
                <a:solidFill>
                  <a:srgbClr val="1F2A3D"/>
                </a:solidFill>
                <a:latin typeface="Calibri"/>
              </a:rPr>
              <a:t>Multiple calls with our team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200" b="1">
                <a:solidFill>
                  <a:srgbClr val="C9A227"/>
                </a:solidFill>
                <a:latin typeface="Calibri"/>
              </a:rPr>
              <a:t>▸  </a:t>
            </a:r>
            <a:r>
              <a:rPr sz="2200" b="0">
                <a:solidFill>
                  <a:srgbClr val="1F2A3D"/>
                </a:solidFill>
                <a:latin typeface="Calibri"/>
              </a:rPr>
              <a:t>Days of waiting between each step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029200"/>
            <a:ext cx="10698480" cy="1188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029200"/>
            <a:ext cx="102412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Result: Great boutiques give up.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6539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A6785"/>
                </a:solidFill>
                <a:latin typeface="Calibri"/>
              </a:rPr>
              <a:t>MIINTO  |  CONFIDENTIAL  |  Leadership Summit Q2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9260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4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447" y="1554480"/>
            <a:ext cx="3566160" cy="21945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447" y="1554480"/>
            <a:ext cx="3566160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447" y="155448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ZALANDO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327" y="2148840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F2A3D"/>
                </a:solidFill>
                <a:latin typeface="Calibri"/>
              </a:rPr>
              <a:t>Ahead of us today.
Mature partner platform.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2767" y="1554480"/>
            <a:ext cx="3566160" cy="21945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2767" y="1554480"/>
            <a:ext cx="3566160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2767" y="155448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FARFETCH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5647" y="2148840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F2A3D"/>
                </a:solidFill>
                <a:latin typeface="Calibri"/>
              </a:rPr>
              <a:t>Investing heavily
in partner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16087" y="1554480"/>
            <a:ext cx="3566160" cy="21945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16087" y="1554480"/>
            <a:ext cx="3566160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16087" y="155448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ABOUT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8967" y="2148840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F2A3D"/>
                </a:solidFill>
                <a:latin typeface="Calibri"/>
              </a:rPr>
              <a:t>Doubling down on
self-service tooling.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297680"/>
            <a:ext cx="10698480" cy="18288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297680"/>
            <a:ext cx="137160" cy="18288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43484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C9A227"/>
                </a:solidFill>
                <a:latin typeface="Calibri"/>
              </a:rPr>
              <a:t>This window is closing.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98348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Zalando is ahead. Farfetch and About You are investing.
We must act now to secure premium boutique supply.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6539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A6785"/>
                </a:solidFill>
                <a:latin typeface="Calibri"/>
              </a:rPr>
              <a:t>MIINTO  |  CONFIDENTIAL  |  Leadership Summit Q2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9260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5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365D"/>
                </a:solidFill>
                <a:latin typeface="Calibri"/>
              </a:rPr>
              <a:t>18 months. 10x partner growth. One modern platform.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447" y="2926080"/>
            <a:ext cx="3566160" cy="23774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447" y="2926080"/>
            <a:ext cx="35661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327" y="329184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1A365D"/>
                </a:solidFill>
                <a:latin typeface="Calibri"/>
              </a:rPr>
              <a:t>2-4 weeks → 48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327" y="457200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5A6785"/>
                </a:solidFill>
                <a:latin typeface="Calibri"/>
              </a:rPr>
              <a:t>Onboarding speed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2767" y="2926080"/>
            <a:ext cx="3566160" cy="23774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2767" y="2926080"/>
            <a:ext cx="35661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5647" y="329184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1A365D"/>
                </a:solidFill>
                <a:latin typeface="Calibri"/>
              </a:rPr>
              <a:t>600 → 6,000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5647" y="457200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5A6785"/>
                </a:solidFill>
                <a:latin typeface="Calibri"/>
              </a:rPr>
              <a:t>Partners by 2027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16087" y="2926080"/>
            <a:ext cx="3566160" cy="23774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6087" y="2926080"/>
            <a:ext cx="35661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8967" y="329184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1A365D"/>
                </a:solidFill>
                <a:latin typeface="Calibri"/>
              </a:rPr>
              <a:t>Bottleneck → Strategic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8967" y="457200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5A6785"/>
                </a:solidFill>
                <a:latin typeface="Calibri"/>
              </a:rPr>
              <a:t>Team focus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1F2A3D"/>
                </a:solidFill>
                <a:latin typeface="Calibri"/>
              </a:rPr>
              <a:t>Team capacity no longer the bottleneck — partner count is.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6539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A6785"/>
                </a:solidFill>
                <a:latin typeface="Calibri"/>
              </a:rPr>
              <a:t>MIINTO  |  CONFIDENTIAL  |  Leadership Summit Q2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Companion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9260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6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287" y="1463040"/>
            <a:ext cx="3657600" cy="21945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2287" y="1463040"/>
            <a:ext cx="109728" cy="21945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6607" y="173736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365D"/>
                </a:solidFill>
                <a:latin typeface="Calibri"/>
              </a:rPr>
              <a:t>APPLY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6607" y="237744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3D"/>
                </a:solidFill>
                <a:latin typeface="Calibri"/>
              </a:rPr>
              <a:t>Submit, verify VAT, track 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7047" y="1463040"/>
            <a:ext cx="3657600" cy="21945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67047" y="1463040"/>
            <a:ext cx="109728" cy="21945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1367" y="173736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365D"/>
                </a:solidFill>
                <a:latin typeface="Calibri"/>
              </a:rPr>
              <a:t>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1367" y="237744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3D"/>
                </a:solidFill>
                <a:latin typeface="Calibri"/>
              </a:rPr>
              <a:t>Digital contracts, EU-compliant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1807" y="1463040"/>
            <a:ext cx="3657600" cy="21945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1807" y="1463040"/>
            <a:ext cx="109728" cy="21945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6127" y="173736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365D"/>
                </a:solidFill>
                <a:latin typeface="Calibri"/>
              </a:rPr>
              <a:t>LEARN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6127" y="237744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3D"/>
                </a:solidFill>
                <a:latin typeface="Calibri"/>
              </a:rPr>
              <a:t>Self-paced training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2287" y="3794760"/>
            <a:ext cx="3657600" cy="21945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2287" y="3794760"/>
            <a:ext cx="109728" cy="21945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6607" y="40690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365D"/>
                </a:solidFill>
                <a:latin typeface="Calibri"/>
              </a:rPr>
              <a:t>SELL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6607" y="470916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3D"/>
                </a:solidFill>
                <a:latin typeface="Calibri"/>
              </a:rPr>
              <a:t>Orders, inventory, returns dashboard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67047" y="3794760"/>
            <a:ext cx="3657600" cy="21945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67047" y="3794760"/>
            <a:ext cx="109728" cy="21945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1367" y="40690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365D"/>
                </a:solidFill>
                <a:latin typeface="Calibri"/>
              </a:rPr>
              <a:t>GET HELP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1367" y="470916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3D"/>
                </a:solidFill>
                <a:latin typeface="Calibri"/>
              </a:rPr>
              <a:t>Knowledge base, no phone calls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61807" y="3794760"/>
            <a:ext cx="3657600" cy="21945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61807" y="3794760"/>
            <a:ext cx="109728" cy="21945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6127" y="40690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365D"/>
                </a:solidFill>
                <a:latin typeface="Calibri"/>
              </a:rPr>
              <a:t>CONFIGURE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6127" y="470916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3D"/>
                </a:solidFill>
                <a:latin typeface="Calibri"/>
              </a:rPr>
              <a:t>API keys, webhooks, integrations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56539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A6785"/>
                </a:solidFill>
                <a:latin typeface="Calibri"/>
              </a:rPr>
              <a:t>MIINTO  |  CONFIDENTIAL  |  Leadership Summit Q2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48-Hour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9260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7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474720"/>
            <a:ext cx="10332720" cy="54864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3328416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-457200" y="21945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A365D"/>
                </a:solidFill>
                <a:latin typeface="Calibri"/>
              </a:rPr>
              <a:t>HOUR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457200" y="402336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F2A3D"/>
                </a:solidFill>
                <a:latin typeface="Calibri"/>
              </a:rPr>
              <a:t>Apply &amp; VAT auto-verify</a:t>
            </a:r>
          </a:p>
        </p:txBody>
      </p:sp>
      <p:sp>
        <p:nvSpPr>
          <p:cNvPr id="10" name="Oval 9"/>
          <p:cNvSpPr/>
          <p:nvPr/>
        </p:nvSpPr>
        <p:spPr>
          <a:xfrm>
            <a:off x="4130040" y="3328416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87040" y="21945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A365D"/>
                </a:solidFill>
                <a:latin typeface="Calibri"/>
              </a:rPr>
              <a:t>HOUR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87040" y="402336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F2A3D"/>
                </a:solidFill>
                <a:latin typeface="Calibri"/>
              </a:rPr>
              <a:t>Upload docs, KYC, digital sign</a:t>
            </a:r>
          </a:p>
        </p:txBody>
      </p:sp>
      <p:sp>
        <p:nvSpPr>
          <p:cNvPr id="13" name="Oval 12"/>
          <p:cNvSpPr/>
          <p:nvPr/>
        </p:nvSpPr>
        <p:spPr>
          <a:xfrm>
            <a:off x="7574280" y="3328416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1280" y="21945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A365D"/>
                </a:solidFill>
                <a:latin typeface="Calibri"/>
              </a:rPr>
              <a:t>DAY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1280" y="402336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F2A3D"/>
                </a:solidFill>
                <a:latin typeface="Calibri"/>
              </a:rPr>
              <a:t>Connect Shopify, sandbox test</a:t>
            </a:r>
          </a:p>
        </p:txBody>
      </p:sp>
      <p:sp>
        <p:nvSpPr>
          <p:cNvPr id="16" name="Oval 15"/>
          <p:cNvSpPr/>
          <p:nvPr/>
        </p:nvSpPr>
        <p:spPr>
          <a:xfrm>
            <a:off x="11018520" y="3328416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0" y="21945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A365D"/>
                </a:solidFill>
                <a:latin typeface="Calibri"/>
              </a:rPr>
              <a:t>DAY 3+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402336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F2A3D"/>
                </a:solidFill>
                <a:latin typeface="Calibri"/>
              </a:rPr>
              <a:t>Orders flow, go 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4864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A365D"/>
                </a:solidFill>
                <a:latin typeface="Calibri"/>
              </a:rPr>
              <a:t>From application to first order in under 72 hours.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6539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A6785"/>
                </a:solidFill>
                <a:latin typeface="Calibri"/>
              </a:rPr>
              <a:t>MIINTO  |  CONFIDENTIAL  |  Leadership Summit Q2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Business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9260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8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3291840" cy="6858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Dimension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0" y="1554480"/>
            <a:ext cx="3657600" cy="6858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554480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Today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1554480"/>
            <a:ext cx="3749039" cy="6858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554480"/>
            <a:ext cx="347471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Target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240280"/>
            <a:ext cx="3291840" cy="685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240280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F2A3D"/>
                </a:solidFill>
                <a:latin typeface="Calibri"/>
              </a:rPr>
              <a:t>Onboarding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2240280"/>
            <a:ext cx="3657600" cy="685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2240280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1F2A3D"/>
                </a:solidFill>
                <a:latin typeface="Calibri"/>
              </a:rPr>
              <a:t>2-4 weeks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0" y="2240280"/>
            <a:ext cx="3749039" cy="685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2240280"/>
            <a:ext cx="347471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A365D"/>
                </a:solidFill>
                <a:latin typeface="Calibri"/>
              </a:rPr>
              <a:t>48 hours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926080"/>
            <a:ext cx="32918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2926080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F2A3D"/>
                </a:solidFill>
                <a:latin typeface="Calibri"/>
              </a:rPr>
              <a:t>Capacity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3360" y="2926080"/>
            <a:ext cx="36576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2926080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1F2A3D"/>
                </a:solidFill>
                <a:latin typeface="Calibri"/>
              </a:rPr>
              <a:t>~20 partners/month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0" y="2926080"/>
            <a:ext cx="3749039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2926080"/>
            <a:ext cx="347471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A365D"/>
                </a:solidFill>
                <a:latin typeface="Calibri"/>
              </a:rPr>
              <a:t>500+/month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611880"/>
            <a:ext cx="3291840" cy="685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611880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F2A3D"/>
                </a:solidFill>
                <a:latin typeface="Calibri"/>
              </a:rPr>
              <a:t>Total partners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23360" y="3611880"/>
            <a:ext cx="3657600" cy="685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3611880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1F2A3D"/>
                </a:solidFill>
                <a:latin typeface="Calibri"/>
              </a:rPr>
              <a:t>600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80960" y="3611880"/>
            <a:ext cx="3749039" cy="685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0" y="3611880"/>
            <a:ext cx="347471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A365D"/>
                </a:solidFill>
                <a:latin typeface="Calibri"/>
              </a:rPr>
              <a:t>6,000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297680"/>
            <a:ext cx="32918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297680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F2A3D"/>
                </a:solidFill>
                <a:latin typeface="Calibri"/>
              </a:rPr>
              <a:t>Team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23360" y="4297680"/>
            <a:ext cx="36576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40" y="4297680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1F2A3D"/>
                </a:solidFill>
                <a:latin typeface="Calibri"/>
              </a:rPr>
              <a:t>Bottleneck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80960" y="4297680"/>
            <a:ext cx="3749039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0" y="4297680"/>
            <a:ext cx="347471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A365D"/>
                </a:solidFill>
                <a:latin typeface="Calibri"/>
              </a:rPr>
              <a:t>Strategic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937760"/>
            <a:ext cx="10698480" cy="12801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4937760"/>
            <a:ext cx="109728" cy="12801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937760"/>
            <a:ext cx="1033272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1A365D"/>
                </a:solidFill>
                <a:latin typeface="Calibri"/>
              </a:rPr>
              <a:t>Capacity scales 25x without scaling headcount 25x.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56539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A6785"/>
                </a:solidFill>
                <a:latin typeface="Calibri"/>
              </a:rPr>
              <a:t>MIINTO  |  CONFIDENTIAL  |  Leadership Summit Q2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Financial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9260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9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447" y="1737360"/>
            <a:ext cx="3566160" cy="2926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447" y="1737360"/>
            <a:ext cx="3566160" cy="91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327" y="219456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EUR 150k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327" y="356616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C9A227"/>
                </a:solidFill>
                <a:latin typeface="Calibri"/>
              </a:rPr>
              <a:t>Average partner GMV / year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2767" y="1737360"/>
            <a:ext cx="3566160" cy="2926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2767" y="1737360"/>
            <a:ext cx="3566160" cy="91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5647" y="219456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5,400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5647" y="356616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C9A227"/>
                </a:solidFill>
                <a:latin typeface="Calibri"/>
              </a:rPr>
              <a:t>Incremental partners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16087" y="1737360"/>
            <a:ext cx="3566160" cy="2926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16087" y="1737360"/>
            <a:ext cx="3566160" cy="91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8967" y="219456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EUR 810M+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8967" y="356616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C9A227"/>
                </a:solidFill>
                <a:latin typeface="Calibri"/>
              </a:rPr>
              <a:t>Incremental annual GMV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5A6785"/>
                </a:solidFill>
                <a:latin typeface="Calibri"/>
              </a:rPr>
              <a:t>Indicative figures — Finance to validate.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A365D"/>
                </a:solidFill>
                <a:latin typeface="Calibri"/>
              </a:rPr>
              <a:t>A platform investment with a category-defining return.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6539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A6785"/>
                </a:solidFill>
                <a:latin typeface="Calibri"/>
              </a:rPr>
              <a:t>MIINTO  |  CONFIDENTIAL  |  Leadership Summit Q2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9260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10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63727" y="1554480"/>
            <a:ext cx="2697480" cy="40233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3727" y="1554480"/>
            <a:ext cx="2697480" cy="5486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3727" y="155448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Q2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6607" y="228600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C9A227"/>
                </a:solidFill>
                <a:latin typeface="Calibri"/>
              </a:rPr>
              <a:t>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327" y="3108960"/>
            <a:ext cx="224028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F2A3D"/>
                </a:solidFill>
                <a:latin typeface="Calibri"/>
              </a:rPr>
              <a:t>E-sign, KYC, wizard, sandbox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52647" y="1554480"/>
            <a:ext cx="2697480" cy="40233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52647" y="1554480"/>
            <a:ext cx="2697480" cy="5486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2647" y="155448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Q3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5527" y="228600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C9A227"/>
                </a:solidFill>
                <a:latin typeface="Calibri"/>
              </a:rPr>
              <a:t>SELF-SERVICE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1247" y="3108960"/>
            <a:ext cx="224028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F2A3D"/>
                </a:solidFill>
                <a:latin typeface="Calibri"/>
              </a:rPr>
              <a:t>Training, integrations, support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1567" y="1554480"/>
            <a:ext cx="2697480" cy="40233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41567" y="1554480"/>
            <a:ext cx="2697480" cy="5486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1567" y="155448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Q4 2026 – Q2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47" y="228600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C9A227"/>
                </a:solidFill>
                <a:latin typeface="Calibri"/>
              </a:rPr>
              <a:t>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3108960"/>
            <a:ext cx="224028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F2A3D"/>
                </a:solidFill>
                <a:latin typeface="Calibri"/>
              </a:rPr>
              <a:t>Mobile app, analytics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30487" y="1554480"/>
            <a:ext cx="2697480" cy="40233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30487" y="1554480"/>
            <a:ext cx="2697480" cy="5486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30487" y="155448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Q3 – Q4 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3367" y="228600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C9A227"/>
                </a:solidFill>
                <a:latin typeface="Calibri"/>
              </a:rPr>
              <a:t>GROWTH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9087" y="3108960"/>
            <a:ext cx="224028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F2A3D"/>
                </a:solidFill>
                <a:latin typeface="Calibri"/>
              </a:rPr>
              <a:t>EU expansion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56539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A6785"/>
                </a:solidFill>
                <a:latin typeface="Calibri"/>
              </a:rPr>
              <a:t>MIINTO  |  CONFIDENTIAL  |  Leadership Summit Q2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NTS Synergy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9260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11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60807" y="2011680"/>
            <a:ext cx="3108960" cy="182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" y="2011680"/>
            <a:ext cx="31089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807" y="2011680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A365D"/>
                </a:solidFill>
                <a:latin typeface="Calibri"/>
              </a:rPr>
              <a:t>Companion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35527" y="2011680"/>
            <a:ext cx="54864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49927" y="2011680"/>
            <a:ext cx="3108960" cy="182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49927" y="2011680"/>
            <a:ext cx="31089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9927" y="2011680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A365D"/>
                </a:solidFill>
                <a:latin typeface="Calibri"/>
              </a:rPr>
              <a:t>NTS Migration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4647" y="2011680"/>
            <a:ext cx="54864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C9A227"/>
                </a:solidFill>
                <a:latin typeface="Calibri"/>
              </a:rPr>
              <a:t>=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39047" y="2011680"/>
            <a:ext cx="3291840" cy="18288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39047" y="2011680"/>
            <a:ext cx="329184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ONE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572000"/>
            <a:ext cx="85039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000" b="1">
                <a:solidFill>
                  <a:srgbClr val="C9A227"/>
                </a:solidFill>
                <a:latin typeface="Calibri"/>
              </a:rPr>
              <a:t>▸  </a:t>
            </a:r>
            <a:r>
              <a:rPr sz="2000" b="0">
                <a:solidFill>
                  <a:srgbClr val="1F2A3D"/>
                </a:solidFill>
                <a:latin typeface="Calibri"/>
              </a:rPr>
              <a:t>Early access for partners already on NTS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000" b="1">
                <a:solidFill>
                  <a:srgbClr val="C9A227"/>
                </a:solidFill>
                <a:latin typeface="Calibri"/>
              </a:rPr>
              <a:t>▸  </a:t>
            </a:r>
            <a:r>
              <a:rPr sz="2000" b="0">
                <a:solidFill>
                  <a:srgbClr val="1F2A3D"/>
                </a:solidFill>
                <a:latin typeface="Calibri"/>
              </a:rPr>
              <a:t>By end of 2026: one modern system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6539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A6785"/>
                </a:solidFill>
                <a:latin typeface="Calibri"/>
              </a:rPr>
              <a:t>MIINTO  |  CONFIDENTIAL  |  Leadership Summit Q2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Key 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9260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12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4114800" cy="6858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38404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554480"/>
            <a:ext cx="1828800" cy="6858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554480"/>
            <a:ext cx="15544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Severity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554480"/>
            <a:ext cx="4754880" cy="6858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554480"/>
            <a:ext cx="4480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Mitigation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240280"/>
            <a:ext cx="4114800" cy="685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240280"/>
            <a:ext cx="38404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F2A3D"/>
                </a:solidFill>
                <a:latin typeface="Calibri"/>
              </a:rPr>
              <a:t>Integration complexity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2240280"/>
            <a:ext cx="1828800" cy="685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20640" y="2377440"/>
            <a:ext cx="1280160" cy="4114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23774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2240280"/>
            <a:ext cx="4754880" cy="685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2240280"/>
            <a:ext cx="4480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1F2A3D"/>
                </a:solidFill>
                <a:latin typeface="Calibri"/>
              </a:rPr>
              <a:t>White-glove support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926080"/>
            <a:ext cx="41148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2926080"/>
            <a:ext cx="38404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F2A3D"/>
                </a:solidFill>
                <a:latin typeface="Calibri"/>
              </a:rPr>
              <a:t>Market variation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2926080"/>
            <a:ext cx="18288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120640" y="3063240"/>
            <a:ext cx="1280160" cy="411480"/>
          </a:xfrm>
          <a:prstGeom prst="round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30632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2926080"/>
            <a:ext cx="47548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2926080"/>
            <a:ext cx="4480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1F2A3D"/>
                </a:solidFill>
                <a:latin typeface="Calibri"/>
              </a:rPr>
              <a:t>Advisory board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611880"/>
            <a:ext cx="4114800" cy="685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611880"/>
            <a:ext cx="38404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F2A3D"/>
                </a:solidFill>
                <a:latin typeface="Calibri"/>
              </a:rPr>
              <a:t>Adoption resistance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3611880"/>
            <a:ext cx="1828800" cy="685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120640" y="3749040"/>
            <a:ext cx="1280160" cy="411480"/>
          </a:xfrm>
          <a:prstGeom prst="round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37490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3611880"/>
            <a:ext cx="4754880" cy="685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0" y="3611880"/>
            <a:ext cx="4480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1F2A3D"/>
                </a:solidFill>
                <a:latin typeface="Calibri"/>
              </a:rPr>
              <a:t>Success manager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120640"/>
            <a:ext cx="10698480" cy="10972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5120640"/>
            <a:ext cx="109728" cy="10972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5120640"/>
            <a:ext cx="103327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365D"/>
                </a:solidFill>
                <a:latin typeface="Calibri"/>
              </a:rPr>
              <a:t>Each risk has a named owner and a defined mitigation path.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56539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A6785"/>
                </a:solidFill>
                <a:latin typeface="Calibri"/>
              </a:rPr>
              <a:t>MIINTO  |  CONFIDENTIAL  |  Leadership Summit Q2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We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9260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13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447" y="1463040"/>
            <a:ext cx="5394960" cy="21945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447" y="1463040"/>
            <a:ext cx="137160" cy="21945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5207" y="173736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C9A227"/>
                </a:solidFill>
                <a:latin typeface="Calibri"/>
              </a:rPr>
              <a:t>BUDGET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207" y="2377440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A365D"/>
                </a:solidFill>
                <a:latin typeface="Calibri"/>
              </a:rPr>
              <a:t>EUR [X] over 18 months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7287" y="1463040"/>
            <a:ext cx="5394960" cy="21945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7287" y="1463040"/>
            <a:ext cx="137160" cy="21945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3047" y="173736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C9A227"/>
                </a:solidFill>
                <a:latin typeface="Calibri"/>
              </a:rPr>
              <a:t>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377440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A365D"/>
                </a:solidFill>
                <a:latin typeface="Calibri"/>
              </a:rPr>
              <a:t>[Y] dedicated FTE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447" y="3840480"/>
            <a:ext cx="5394960" cy="21945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447" y="3840480"/>
            <a:ext cx="137160" cy="21945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5207" y="411480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C9A227"/>
                </a:solidFill>
                <a:latin typeface="Calibri"/>
              </a:rPr>
              <a:t>KICKOFF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5207" y="4754880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A365D"/>
                </a:solidFill>
                <a:latin typeface="Calibri"/>
              </a:rPr>
              <a:t>Q2 2026, aligned with 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7287" y="3840480"/>
            <a:ext cx="5394960" cy="21945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7287" y="3840480"/>
            <a:ext cx="137160" cy="21945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3047" y="411480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C9A227"/>
                </a:solidFill>
                <a:latin typeface="Calibri"/>
              </a:rPr>
              <a:t>SPONSOR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4754880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A365D"/>
                </a:solidFill>
                <a:latin typeface="Calibri"/>
              </a:rPr>
              <a:t>Named executive sponsor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6539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A6785"/>
                </a:solidFill>
                <a:latin typeface="Calibri"/>
              </a:rPr>
              <a:t>MIINTO  |  CONFIDENTIAL  |  Leadership Summit Q2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37160" cy="10972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C9A227"/>
                </a:solidFill>
                <a:latin typeface="Calibri"/>
              </a:rPr>
              <a:t>Why this, why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C9A227"/>
                </a:solidFill>
                <a:latin typeface="Calibri"/>
              </a:rPr>
              <a:t>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6517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Grow from 600 to 6,000 partners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C9A227"/>
                </a:solidFill>
                <a:latin typeface="Calibri"/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2918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Growth limited only by boutique 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C9A227"/>
                </a:solidFill>
                <a:latin typeface="Calibri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9319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Zalando ahead — window closes soon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120640"/>
            <a:ext cx="10332720" cy="10972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20640"/>
            <a:ext cx="103327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1A365D"/>
                </a:solidFill>
                <a:latin typeface="Calibri"/>
              </a:rPr>
              <a:t>Let's build this together.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MIINTO  |  CONFIDENTIAL  |  Leadership Summit Q2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